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Easy Bank 系統架構圖：使用者端與管理端經 Vue 前端、Axios/JWT、Spring Boot 分層服務、JPA Repository 寫入 MSSQL，並整合 Email 與 Line Pay。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143000" y="-1016000"/>
            <a:ext cx="3365500" cy="3365500"/>
          </a:xfrm>
          <a:prstGeom prst="ellipse">
            <a:avLst/>
          </a:prstGeom>
          <a:solidFill>
            <a:srgbClr val="DFE6DC">
              <a:alpha val="5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88500" y="4889500"/>
            <a:ext cx="3556000" cy="3556000"/>
          </a:xfrm>
          <a:prstGeom prst="ellipse">
            <a:avLst/>
          </a:prstGeom>
          <a:solidFill>
            <a:srgbClr val="EFE1DC">
              <a:alpha val="5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60350" y="4254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30300" y="8890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00250" y="13525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70200" y="18161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40150" y="22796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0100" y="27432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0050" y="32067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0000" y="36703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19950" y="41338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89900" y="45974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959850" y="50609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29800" y="55245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99750" y="59880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569700" y="64516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7650" y="571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7600" y="5207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987550" y="9842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57500" y="14478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27450" y="19113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97400" y="23749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67350" y="28384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37300" y="33020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207250" y="37655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77200" y="42291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947150" y="46926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817100" y="51562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687050" y="56197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557000" y="60833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34950" y="65468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04900" y="1524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74850" y="6159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844800" y="10795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714750" y="15430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84700" y="20066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454650" y="24701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24600" y="29337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94550" y="33972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064500" y="38608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934450" y="43243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804400" y="47879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674350" y="5251450"/>
            <a:ext cx="469900" cy="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1544300" y="5715000"/>
            <a:ext cx="469900" cy="-50800"/>
          </a:xfrm>
          <a:prstGeom prst="line">
            <a:avLst/>
          </a:prstGeom>
          <a:noFill/>
          <a:ln w="4445">
            <a:solidFill>
              <a:srgbClr val="D6CEC3">
                <a:alpha val="14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842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509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1176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3843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6510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9177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1844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4511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178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9845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51200" y="5943600"/>
            <a:ext cx="0" cy="584200"/>
          </a:xfrm>
          <a:prstGeom prst="line">
            <a:avLst/>
          </a:prstGeom>
          <a:noFill/>
          <a:ln w="3810">
            <a:solidFill>
              <a:srgbClr val="D6CEC3">
                <a:alpha val="22000"/>
              </a:srgbClr>
            </a:solidFill>
            <a:prstDash val="solid"/>
          </a:ln>
        </p:spPr>
      </p:sp>
      <p:pic>
        <p:nvPicPr>
          <p:cNvPr id="58" name="Image 0" descr="/Users/hankhuang/Developer/action/IdeaProjects/java-easy-bank/frontend/public/logo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172700" y="330200"/>
            <a:ext cx="838200" cy="717550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736600" y="609600"/>
            <a:ext cx="298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2B2B2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系統架構圖</a:t>
            </a:r>
            <a:endParaRPr lang="en-US" sz="3100" dirty="0"/>
          </a:p>
        </p:txBody>
      </p:sp>
      <p:sp>
        <p:nvSpPr>
          <p:cNvPr id="60" name="Shape 56"/>
          <p:cNvSpPr/>
          <p:nvPr/>
        </p:nvSpPr>
        <p:spPr>
          <a:xfrm>
            <a:off x="736600" y="1123950"/>
            <a:ext cx="863600" cy="31750"/>
          </a:xfrm>
          <a:prstGeom prst="rect">
            <a:avLst>
              <a:gd name="adj" fmla="val 60000"/>
            </a:avLst>
          </a:prstGeom>
          <a:solidFill>
            <a:srgbClr val="5C6B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36600" y="1295400"/>
            <a:ext cx="781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8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Java Easy Bank 以 Vue 3 前台/後台作為操作入口，透過 RESTful API 與 JWT 驗證進入 Spring Boot 後端，再由 Service 模組封裝金融流程並寫入 MSSQL。</a:t>
            </a:r>
            <a:endParaRPr lang="en-US" sz="1380" dirty="0"/>
          </a:p>
        </p:txBody>
      </p:sp>
      <p:sp>
        <p:nvSpPr>
          <p:cNvPr id="62" name="Shape 58"/>
          <p:cNvSpPr/>
          <p:nvPr/>
        </p:nvSpPr>
        <p:spPr>
          <a:xfrm>
            <a:off x="635000" y="1905000"/>
            <a:ext cx="10922000" cy="3975100"/>
          </a:xfrm>
          <a:prstGeom prst="rect">
            <a:avLst>
              <a:gd name="adj" fmla="val 5431"/>
            </a:avLst>
          </a:prstGeom>
          <a:solidFill>
            <a:srgbClr val="FFFFFF">
              <a:alpha val="86000"/>
            </a:srgbClr>
          </a:solidFill>
          <a:ln w="8890">
            <a:solidFill>
              <a:srgbClr val="D6CEC3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63" name="Shape 59"/>
          <p:cNvSpPr/>
          <p:nvPr/>
        </p:nvSpPr>
        <p:spPr>
          <a:xfrm>
            <a:off x="977900" y="2095500"/>
            <a:ext cx="1028700" cy="266700"/>
          </a:xfrm>
          <a:prstGeom prst="rect">
            <a:avLst>
              <a:gd name="adj" fmla="val 50000"/>
            </a:avLst>
          </a:prstGeom>
          <a:solidFill>
            <a:srgbClr val="A65A4D"/>
          </a:solidFill>
          <a:ln w="8890">
            <a:solidFill>
              <a:srgbClr val="A65A4D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977900" y="2139950"/>
            <a:ext cx="102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F1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Client</a:t>
            </a:r>
            <a:endParaRPr lang="en-US" sz="1150" dirty="0"/>
          </a:p>
        </p:txBody>
      </p:sp>
      <p:sp>
        <p:nvSpPr>
          <p:cNvPr id="65" name="Shape 61"/>
          <p:cNvSpPr/>
          <p:nvPr/>
        </p:nvSpPr>
        <p:spPr>
          <a:xfrm>
            <a:off x="977900" y="3022600"/>
            <a:ext cx="1028700" cy="266700"/>
          </a:xfrm>
          <a:prstGeom prst="rect">
            <a:avLst>
              <a:gd name="adj" fmla="val 50000"/>
            </a:avLst>
          </a:prstGeom>
          <a:solidFill>
            <a:srgbClr val="3F4A42"/>
          </a:solidFill>
          <a:ln w="8890">
            <a:solidFill>
              <a:srgbClr val="3F4A42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977900" y="3067050"/>
            <a:ext cx="102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F1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/ Security</a:t>
            </a:r>
            <a:endParaRPr lang="en-US" sz="1150" dirty="0"/>
          </a:p>
        </p:txBody>
      </p:sp>
      <p:sp>
        <p:nvSpPr>
          <p:cNvPr id="67" name="Shape 63"/>
          <p:cNvSpPr/>
          <p:nvPr/>
        </p:nvSpPr>
        <p:spPr>
          <a:xfrm>
            <a:off x="977900" y="3924300"/>
            <a:ext cx="1028700" cy="266700"/>
          </a:xfrm>
          <a:prstGeom prst="rect">
            <a:avLst>
              <a:gd name="adj" fmla="val 50000"/>
            </a:avLst>
          </a:prstGeom>
          <a:solidFill>
            <a:srgbClr val="3F4A42"/>
          </a:solidFill>
          <a:ln w="8890">
            <a:solidFill>
              <a:srgbClr val="3F4A42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977900" y="3968750"/>
            <a:ext cx="102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F1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Backend</a:t>
            </a:r>
            <a:endParaRPr lang="en-US" sz="1150" dirty="0"/>
          </a:p>
        </p:txBody>
      </p:sp>
      <p:sp>
        <p:nvSpPr>
          <p:cNvPr id="69" name="Shape 65"/>
          <p:cNvSpPr/>
          <p:nvPr/>
        </p:nvSpPr>
        <p:spPr>
          <a:xfrm>
            <a:off x="977900" y="5143500"/>
            <a:ext cx="1028700" cy="266700"/>
          </a:xfrm>
          <a:prstGeom prst="rect">
            <a:avLst>
              <a:gd name="adj" fmla="val 50000"/>
            </a:avLst>
          </a:prstGeom>
          <a:solidFill>
            <a:srgbClr val="A65A4D"/>
          </a:solidFill>
          <a:ln w="8890">
            <a:solidFill>
              <a:srgbClr val="A65A4D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977900" y="5187950"/>
            <a:ext cx="102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F1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Persistence</a:t>
            </a:r>
            <a:endParaRPr lang="en-US" sz="1150" dirty="0"/>
          </a:p>
        </p:txBody>
      </p:sp>
      <p:sp>
        <p:nvSpPr>
          <p:cNvPr id="71" name="Shape 67"/>
          <p:cNvSpPr/>
          <p:nvPr/>
        </p:nvSpPr>
        <p:spPr>
          <a:xfrm>
            <a:off x="2349500" y="2095500"/>
            <a:ext cx="2286000" cy="698500"/>
          </a:xfrm>
          <a:prstGeom prst="rect">
            <a:avLst>
              <a:gd name="adj" fmla="val 20000"/>
            </a:avLst>
          </a:prstGeom>
          <a:solidFill>
            <a:srgbClr val="FFF9EF"/>
          </a:solidFill>
          <a:ln w="8255">
            <a:solidFill>
              <a:srgbClr val="D6CEC3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72" name="Shape 68"/>
          <p:cNvSpPr/>
          <p:nvPr/>
        </p:nvSpPr>
        <p:spPr>
          <a:xfrm>
            <a:off x="2349500" y="2095500"/>
            <a:ext cx="44450" cy="698500"/>
          </a:xfrm>
          <a:prstGeom prst="rect">
            <a:avLst>
              <a:gd name="adj" fmla="val 57143"/>
            </a:avLst>
          </a:prstGeom>
          <a:solidFill>
            <a:srgbClr val="5C6B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2489200" y="2203450"/>
            <a:ext cx="200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使用者端 Web</a:t>
            </a:r>
            <a:endParaRPr lang="en-US" sz="1500" dirty="0"/>
          </a:p>
        </p:txBody>
      </p:sp>
      <p:sp>
        <p:nvSpPr>
          <p:cNvPr id="74" name="Text 70"/>
          <p:cNvSpPr/>
          <p:nvPr/>
        </p:nvSpPr>
        <p:spPr>
          <a:xfrm>
            <a:off x="2489200" y="2444750"/>
            <a:ext cx="200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Landing / Home / Account / Loan / Card</a:t>
            </a:r>
            <a:endParaRPr lang="en-US" sz="10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申請、查詢、繳費與通知設定</a:t>
            </a:r>
            <a:endParaRPr lang="en-US" sz="1060" dirty="0"/>
          </a:p>
        </p:txBody>
      </p:sp>
      <p:sp>
        <p:nvSpPr>
          <p:cNvPr id="75" name="Shape 71"/>
          <p:cNvSpPr/>
          <p:nvPr/>
        </p:nvSpPr>
        <p:spPr>
          <a:xfrm>
            <a:off x="5397500" y="2095500"/>
            <a:ext cx="2476500" cy="698500"/>
          </a:xfrm>
          <a:prstGeom prst="rect">
            <a:avLst>
              <a:gd name="adj" fmla="val 20000"/>
            </a:avLst>
          </a:prstGeom>
          <a:solidFill>
            <a:srgbClr val="FFF9EF"/>
          </a:solidFill>
          <a:ln w="8255">
            <a:solidFill>
              <a:srgbClr val="D6CEC3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76" name="Shape 72"/>
          <p:cNvSpPr/>
          <p:nvPr/>
        </p:nvSpPr>
        <p:spPr>
          <a:xfrm>
            <a:off x="5397500" y="2095500"/>
            <a:ext cx="44450" cy="698500"/>
          </a:xfrm>
          <a:prstGeom prst="rect">
            <a:avLst>
              <a:gd name="adj" fmla="val 57143"/>
            </a:avLst>
          </a:prstGeom>
          <a:solidFill>
            <a:srgbClr val="A65A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5537200" y="2203450"/>
            <a:ext cx="219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管理端 Web</a:t>
            </a:r>
            <a:endParaRPr lang="en-US" sz="1500" dirty="0"/>
          </a:p>
        </p:txBody>
      </p:sp>
      <p:sp>
        <p:nvSpPr>
          <p:cNvPr id="78" name="Text 74"/>
          <p:cNvSpPr/>
          <p:nvPr/>
        </p:nvSpPr>
        <p:spPr>
          <a:xfrm>
            <a:off x="5537200" y="2444750"/>
            <a:ext cx="2197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Admin Dashboard / Review / Logs</a:t>
            </a:r>
            <a:endParaRPr lang="en-US" sz="10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審核案件、管理客戶、檢視紀錄</a:t>
            </a:r>
            <a:endParaRPr lang="en-US" sz="1060" dirty="0"/>
          </a:p>
        </p:txBody>
      </p:sp>
      <p:sp>
        <p:nvSpPr>
          <p:cNvPr id="79" name="Shape 75"/>
          <p:cNvSpPr/>
          <p:nvPr/>
        </p:nvSpPr>
        <p:spPr>
          <a:xfrm>
            <a:off x="8636000" y="2095500"/>
            <a:ext cx="2095500" cy="698500"/>
          </a:xfrm>
          <a:prstGeom prst="rect">
            <a:avLst>
              <a:gd name="adj" fmla="val 20000"/>
            </a:avLst>
          </a:prstGeom>
          <a:solidFill>
            <a:srgbClr val="FFF9EF"/>
          </a:solidFill>
          <a:ln w="8255">
            <a:solidFill>
              <a:srgbClr val="D6CEC3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80" name="Shape 76"/>
          <p:cNvSpPr/>
          <p:nvPr/>
        </p:nvSpPr>
        <p:spPr>
          <a:xfrm>
            <a:off x="8636000" y="2095500"/>
            <a:ext cx="44450" cy="698500"/>
          </a:xfrm>
          <a:prstGeom prst="rect">
            <a:avLst>
              <a:gd name="adj" fmla="val 57143"/>
            </a:avLst>
          </a:prstGeom>
          <a:solidFill>
            <a:srgbClr val="3F4A4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8775700" y="2203450"/>
            <a:ext cx="181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Vue 3 Frontend</a:t>
            </a:r>
            <a:endParaRPr lang="en-US" sz="1500" dirty="0"/>
          </a:p>
        </p:txBody>
      </p:sp>
      <p:sp>
        <p:nvSpPr>
          <p:cNvPr id="82" name="Text 78"/>
          <p:cNvSpPr/>
          <p:nvPr/>
        </p:nvSpPr>
        <p:spPr>
          <a:xfrm>
            <a:off x="8775700" y="2444750"/>
            <a:ext cx="181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Vue Router + Pinia + Component Views</a:t>
            </a:r>
            <a:endParaRPr lang="en-US" sz="10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 Axios 統一呼叫後端 API</a:t>
            </a:r>
            <a:endParaRPr lang="en-US" sz="1060" dirty="0"/>
          </a:p>
        </p:txBody>
      </p:sp>
      <p:sp>
        <p:nvSpPr>
          <p:cNvPr id="83" name="Shape 79"/>
          <p:cNvSpPr/>
          <p:nvPr/>
        </p:nvSpPr>
        <p:spPr>
          <a:xfrm>
            <a:off x="4635500" y="2444750"/>
            <a:ext cx="762000" cy="0"/>
          </a:xfrm>
          <a:prstGeom prst="line">
            <a:avLst/>
          </a:prstGeom>
          <a:noFill/>
          <a:ln w="12700">
            <a:solidFill>
              <a:srgbClr val="D6CEC3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84" name="Shape 80"/>
          <p:cNvSpPr/>
          <p:nvPr/>
        </p:nvSpPr>
        <p:spPr>
          <a:xfrm>
            <a:off x="7874000" y="2444750"/>
            <a:ext cx="762000" cy="0"/>
          </a:xfrm>
          <a:prstGeom prst="line">
            <a:avLst/>
          </a:prstGeom>
          <a:noFill/>
          <a:ln w="12700">
            <a:solidFill>
              <a:srgbClr val="D6CEC3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85" name="Shape 81"/>
          <p:cNvSpPr/>
          <p:nvPr/>
        </p:nvSpPr>
        <p:spPr>
          <a:xfrm>
            <a:off x="2349500" y="3060700"/>
            <a:ext cx="1905000" cy="584200"/>
          </a:xfrm>
          <a:prstGeom prst="rect">
            <a:avLst>
              <a:gd name="adj" fmla="val 23913"/>
            </a:avLst>
          </a:prstGeom>
          <a:solidFill>
            <a:srgbClr val="FFF9EF"/>
          </a:solidFill>
          <a:ln w="8255">
            <a:solidFill>
              <a:srgbClr val="D6CEC3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86" name="Shape 82"/>
          <p:cNvSpPr/>
          <p:nvPr/>
        </p:nvSpPr>
        <p:spPr>
          <a:xfrm>
            <a:off x="2349500" y="3060700"/>
            <a:ext cx="44450" cy="584200"/>
          </a:xfrm>
          <a:prstGeom prst="rect">
            <a:avLst>
              <a:gd name="adj" fmla="val 57143"/>
            </a:avLst>
          </a:prstGeom>
          <a:solidFill>
            <a:srgbClr val="5C6B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2489200" y="3168650"/>
            <a:ext cx="162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Axios API Client</a:t>
            </a:r>
            <a:endParaRPr lang="en-US" sz="1500" dirty="0"/>
          </a:p>
        </p:txBody>
      </p:sp>
      <p:sp>
        <p:nvSpPr>
          <p:cNvPr id="88" name="Text 84"/>
          <p:cNvSpPr/>
          <p:nvPr/>
        </p:nvSpPr>
        <p:spPr>
          <a:xfrm>
            <a:off x="2489200" y="3409950"/>
            <a:ext cx="1625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Request Interceptor</a:t>
            </a:r>
            <a:endParaRPr lang="en-US" sz="10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自動附帶 JWT Token</a:t>
            </a:r>
            <a:endParaRPr lang="en-US" sz="1060" dirty="0"/>
          </a:p>
        </p:txBody>
      </p:sp>
      <p:sp>
        <p:nvSpPr>
          <p:cNvPr id="89" name="Shape 85"/>
          <p:cNvSpPr/>
          <p:nvPr/>
        </p:nvSpPr>
        <p:spPr>
          <a:xfrm>
            <a:off x="4889500" y="3060700"/>
            <a:ext cx="2730500" cy="584200"/>
          </a:xfrm>
          <a:prstGeom prst="rect">
            <a:avLst>
              <a:gd name="adj" fmla="val 23913"/>
            </a:avLst>
          </a:prstGeom>
          <a:solidFill>
            <a:srgbClr val="3F4A42"/>
          </a:solidFill>
          <a:ln w="8255">
            <a:solidFill>
              <a:srgbClr val="3F4A42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90" name="Shape 86"/>
          <p:cNvSpPr/>
          <p:nvPr/>
        </p:nvSpPr>
        <p:spPr>
          <a:xfrm>
            <a:off x="4889500" y="3060700"/>
            <a:ext cx="44450" cy="584200"/>
          </a:xfrm>
          <a:prstGeom prst="rect">
            <a:avLst>
              <a:gd name="adj" fmla="val 57143"/>
            </a:avLst>
          </a:prstGeom>
          <a:solidFill>
            <a:srgbClr val="A65A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5029200" y="3168650"/>
            <a:ext cx="2451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1E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RESTful API</a:t>
            </a:r>
            <a:endParaRPr lang="en-US" sz="1500" dirty="0"/>
          </a:p>
        </p:txBody>
      </p:sp>
      <p:sp>
        <p:nvSpPr>
          <p:cNvPr id="92" name="Text 88"/>
          <p:cNvSpPr/>
          <p:nvPr/>
        </p:nvSpPr>
        <p:spPr>
          <a:xfrm>
            <a:off x="5029200" y="3409950"/>
            <a:ext cx="2451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F5F1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Customer / Account / Loan / Card / Admin</a:t>
            </a:r>
            <a:endParaRPr lang="en-US" sz="980" dirty="0"/>
          </a:p>
        </p:txBody>
      </p:sp>
      <p:sp>
        <p:nvSpPr>
          <p:cNvPr id="93" name="Shape 89"/>
          <p:cNvSpPr/>
          <p:nvPr/>
        </p:nvSpPr>
        <p:spPr>
          <a:xfrm>
            <a:off x="8255000" y="3060700"/>
            <a:ext cx="2476500" cy="584200"/>
          </a:xfrm>
          <a:prstGeom prst="rect">
            <a:avLst>
              <a:gd name="adj" fmla="val 23913"/>
            </a:avLst>
          </a:prstGeom>
          <a:solidFill>
            <a:srgbClr val="FFF9EF"/>
          </a:solidFill>
          <a:ln w="8255">
            <a:solidFill>
              <a:srgbClr val="D6CEC3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94" name="Shape 90"/>
          <p:cNvSpPr/>
          <p:nvPr/>
        </p:nvSpPr>
        <p:spPr>
          <a:xfrm>
            <a:off x="8255000" y="3060700"/>
            <a:ext cx="44450" cy="584200"/>
          </a:xfrm>
          <a:prstGeom prst="rect">
            <a:avLst>
              <a:gd name="adj" fmla="val 57143"/>
            </a:avLst>
          </a:prstGeom>
          <a:solidFill>
            <a:srgbClr val="A65A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8394700" y="3168650"/>
            <a:ext cx="219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Spring Security</a:t>
            </a:r>
            <a:endParaRPr lang="en-US" sz="1500" dirty="0"/>
          </a:p>
        </p:txBody>
      </p:sp>
      <p:sp>
        <p:nvSpPr>
          <p:cNvPr id="96" name="Text 92"/>
          <p:cNvSpPr/>
          <p:nvPr/>
        </p:nvSpPr>
        <p:spPr>
          <a:xfrm>
            <a:off x="8394700" y="3409950"/>
            <a:ext cx="2197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JWT 驗證 / 權限控管 / Login Audit</a:t>
            </a:r>
            <a:endParaRPr lang="en-US" sz="10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依角色與登入狀態保護 API</a:t>
            </a:r>
            <a:endParaRPr lang="en-US" sz="1060" dirty="0"/>
          </a:p>
        </p:txBody>
      </p:sp>
      <p:sp>
        <p:nvSpPr>
          <p:cNvPr id="97" name="Shape 93"/>
          <p:cNvSpPr/>
          <p:nvPr/>
        </p:nvSpPr>
        <p:spPr>
          <a:xfrm>
            <a:off x="9715500" y="2794000"/>
            <a:ext cx="0" cy="266700"/>
          </a:xfrm>
          <a:prstGeom prst="line">
            <a:avLst/>
          </a:prstGeom>
          <a:noFill/>
          <a:ln w="16510">
            <a:solidFill>
              <a:srgbClr val="5C6B5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98" name="Shape 94"/>
          <p:cNvSpPr/>
          <p:nvPr/>
        </p:nvSpPr>
        <p:spPr>
          <a:xfrm>
            <a:off x="4254500" y="3352800"/>
            <a:ext cx="635000" cy="0"/>
          </a:xfrm>
          <a:prstGeom prst="line">
            <a:avLst/>
          </a:prstGeom>
          <a:noFill/>
          <a:ln w="16510">
            <a:solidFill>
              <a:srgbClr val="5C6B5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99" name="Shape 95"/>
          <p:cNvSpPr/>
          <p:nvPr/>
        </p:nvSpPr>
        <p:spPr>
          <a:xfrm>
            <a:off x="7620000" y="3352800"/>
            <a:ext cx="635000" cy="0"/>
          </a:xfrm>
          <a:prstGeom prst="line">
            <a:avLst/>
          </a:prstGeom>
          <a:noFill/>
          <a:ln w="16510">
            <a:solidFill>
              <a:srgbClr val="5C6B5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00" name="Shape 96"/>
          <p:cNvSpPr/>
          <p:nvPr/>
        </p:nvSpPr>
        <p:spPr>
          <a:xfrm>
            <a:off x="2184400" y="3911600"/>
            <a:ext cx="6096000" cy="1130300"/>
          </a:xfrm>
          <a:prstGeom prst="rect">
            <a:avLst>
              <a:gd name="adj" fmla="val 15730"/>
            </a:avLst>
          </a:prstGeom>
          <a:solidFill>
            <a:srgbClr val="F5F1EA"/>
          </a:solidFill>
          <a:ln w="8890">
            <a:solidFill>
              <a:srgbClr val="D6CEC3"/>
            </a:solidFill>
            <a:prstDash val="solid"/>
          </a:ln>
        </p:spPr>
      </p:sp>
      <p:sp>
        <p:nvSpPr>
          <p:cNvPr id="101" name="Text 97"/>
          <p:cNvSpPr/>
          <p:nvPr/>
        </p:nvSpPr>
        <p:spPr>
          <a:xfrm>
            <a:off x="2425700" y="4025900"/>
            <a:ext cx="228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B2B2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Spring Boot Application</a:t>
            </a:r>
            <a:endParaRPr lang="en-US" sz="1700" dirty="0"/>
          </a:p>
        </p:txBody>
      </p:sp>
      <p:sp>
        <p:nvSpPr>
          <p:cNvPr id="102" name="Text 98"/>
          <p:cNvSpPr/>
          <p:nvPr/>
        </p:nvSpPr>
        <p:spPr>
          <a:xfrm>
            <a:off x="4826000" y="4064000"/>
            <a:ext cx="254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Controllers / Services / Repositories</a:t>
            </a:r>
            <a:endParaRPr lang="en-US" sz="1160" dirty="0"/>
          </a:p>
        </p:txBody>
      </p:sp>
      <p:sp>
        <p:nvSpPr>
          <p:cNvPr id="103" name="Shape 99"/>
          <p:cNvSpPr/>
          <p:nvPr/>
        </p:nvSpPr>
        <p:spPr>
          <a:xfrm>
            <a:off x="2425700" y="4368800"/>
            <a:ext cx="1562100" cy="279400"/>
          </a:xfrm>
          <a:prstGeom prst="rect">
            <a:avLst>
              <a:gd name="adj" fmla="val 31818"/>
            </a:avLst>
          </a:prstGeom>
          <a:solidFill>
            <a:srgbClr val="FFF9EF"/>
          </a:solidFill>
          <a:ln w="6350">
            <a:solidFill>
              <a:srgbClr val="D6CEC3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2527300" y="4413250"/>
            <a:ext cx="749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3F4A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客戶與權限</a:t>
            </a:r>
            <a:endParaRPr lang="en-US" sz="1070" dirty="0"/>
          </a:p>
        </p:txBody>
      </p:sp>
      <p:sp>
        <p:nvSpPr>
          <p:cNvPr id="105" name="Text 101"/>
          <p:cNvSpPr/>
          <p:nvPr/>
        </p:nvSpPr>
        <p:spPr>
          <a:xfrm>
            <a:off x="2527300" y="4527550"/>
            <a:ext cx="12700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Customer / Auth</a:t>
            </a:r>
            <a:endParaRPr lang="en-US" sz="790" dirty="0"/>
          </a:p>
        </p:txBody>
      </p:sp>
      <p:sp>
        <p:nvSpPr>
          <p:cNvPr id="106" name="Shape 102"/>
          <p:cNvSpPr/>
          <p:nvPr/>
        </p:nvSpPr>
        <p:spPr>
          <a:xfrm>
            <a:off x="4267200" y="4368800"/>
            <a:ext cx="1562100" cy="279400"/>
          </a:xfrm>
          <a:prstGeom prst="rect">
            <a:avLst>
              <a:gd name="adj" fmla="val 31818"/>
            </a:avLst>
          </a:prstGeom>
          <a:solidFill>
            <a:srgbClr val="FFFFFF"/>
          </a:solidFill>
          <a:ln w="6350">
            <a:solidFill>
              <a:srgbClr val="D6CEC3"/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4368800" y="4413250"/>
            <a:ext cx="749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3F4A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帳戶模組</a:t>
            </a:r>
            <a:endParaRPr lang="en-US" sz="1070" dirty="0"/>
          </a:p>
        </p:txBody>
      </p:sp>
      <p:sp>
        <p:nvSpPr>
          <p:cNvPr id="108" name="Text 104"/>
          <p:cNvSpPr/>
          <p:nvPr/>
        </p:nvSpPr>
        <p:spPr>
          <a:xfrm>
            <a:off x="4368800" y="4527550"/>
            <a:ext cx="12700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Account / Transfer</a:t>
            </a:r>
            <a:endParaRPr lang="en-US" sz="790" dirty="0"/>
          </a:p>
        </p:txBody>
      </p:sp>
      <p:sp>
        <p:nvSpPr>
          <p:cNvPr id="109" name="Shape 105"/>
          <p:cNvSpPr/>
          <p:nvPr/>
        </p:nvSpPr>
        <p:spPr>
          <a:xfrm>
            <a:off x="6108700" y="4368800"/>
            <a:ext cx="1562100" cy="279400"/>
          </a:xfrm>
          <a:prstGeom prst="rect">
            <a:avLst>
              <a:gd name="adj" fmla="val 31818"/>
            </a:avLst>
          </a:prstGeom>
          <a:solidFill>
            <a:srgbClr val="FFF9EF"/>
          </a:solidFill>
          <a:ln w="6350">
            <a:solidFill>
              <a:srgbClr val="D6CEC3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6210300" y="4413250"/>
            <a:ext cx="749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3F4A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貸款模組</a:t>
            </a:r>
            <a:endParaRPr lang="en-US" sz="1070" dirty="0"/>
          </a:p>
        </p:txBody>
      </p:sp>
      <p:sp>
        <p:nvSpPr>
          <p:cNvPr id="111" name="Text 107"/>
          <p:cNvSpPr/>
          <p:nvPr/>
        </p:nvSpPr>
        <p:spPr>
          <a:xfrm>
            <a:off x="6210300" y="4527550"/>
            <a:ext cx="12700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Loan / Repayment</a:t>
            </a:r>
            <a:endParaRPr lang="en-US" sz="790" dirty="0"/>
          </a:p>
        </p:txBody>
      </p:sp>
      <p:sp>
        <p:nvSpPr>
          <p:cNvPr id="112" name="Shape 108"/>
          <p:cNvSpPr/>
          <p:nvPr/>
        </p:nvSpPr>
        <p:spPr>
          <a:xfrm>
            <a:off x="2425700" y="4737100"/>
            <a:ext cx="1562100" cy="279400"/>
          </a:xfrm>
          <a:prstGeom prst="rect">
            <a:avLst>
              <a:gd name="adj" fmla="val 31818"/>
            </a:avLst>
          </a:prstGeom>
          <a:solidFill>
            <a:srgbClr val="FFFFFF"/>
          </a:solidFill>
          <a:ln w="6350">
            <a:solidFill>
              <a:srgbClr val="D6CEC3"/>
            </a:solidFill>
            <a:prstDash val="solid"/>
          </a:ln>
        </p:spPr>
      </p:sp>
      <p:sp>
        <p:nvSpPr>
          <p:cNvPr id="113" name="Text 109"/>
          <p:cNvSpPr/>
          <p:nvPr/>
        </p:nvSpPr>
        <p:spPr>
          <a:xfrm>
            <a:off x="2527300" y="4781550"/>
            <a:ext cx="749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3F4A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風控模組</a:t>
            </a:r>
            <a:endParaRPr lang="en-US" sz="1070" dirty="0"/>
          </a:p>
        </p:txBody>
      </p:sp>
      <p:sp>
        <p:nvSpPr>
          <p:cNvPr id="114" name="Text 110"/>
          <p:cNvSpPr/>
          <p:nvPr/>
        </p:nvSpPr>
        <p:spPr>
          <a:xfrm>
            <a:off x="2527300" y="4895850"/>
            <a:ext cx="12700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Credit / Risk</a:t>
            </a:r>
            <a:endParaRPr lang="en-US" sz="790" dirty="0"/>
          </a:p>
        </p:txBody>
      </p:sp>
      <p:sp>
        <p:nvSpPr>
          <p:cNvPr id="115" name="Shape 111"/>
          <p:cNvSpPr/>
          <p:nvPr/>
        </p:nvSpPr>
        <p:spPr>
          <a:xfrm>
            <a:off x="4267200" y="4737100"/>
            <a:ext cx="1562100" cy="279400"/>
          </a:xfrm>
          <a:prstGeom prst="rect">
            <a:avLst>
              <a:gd name="adj" fmla="val 31818"/>
            </a:avLst>
          </a:prstGeom>
          <a:solidFill>
            <a:srgbClr val="FFF9EF"/>
          </a:solidFill>
          <a:ln w="6350">
            <a:solidFill>
              <a:srgbClr val="D6CEC3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4368800" y="4781550"/>
            <a:ext cx="749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3F4A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信用卡模組</a:t>
            </a:r>
            <a:endParaRPr lang="en-US" sz="1070" dirty="0"/>
          </a:p>
        </p:txBody>
      </p:sp>
      <p:sp>
        <p:nvSpPr>
          <p:cNvPr id="117" name="Text 113"/>
          <p:cNvSpPr/>
          <p:nvPr/>
        </p:nvSpPr>
        <p:spPr>
          <a:xfrm>
            <a:off x="4368800" y="4895850"/>
            <a:ext cx="12700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Card / Bill / Txn</a:t>
            </a:r>
            <a:endParaRPr lang="en-US" sz="790" dirty="0"/>
          </a:p>
        </p:txBody>
      </p:sp>
      <p:sp>
        <p:nvSpPr>
          <p:cNvPr id="118" name="Shape 114"/>
          <p:cNvSpPr/>
          <p:nvPr/>
        </p:nvSpPr>
        <p:spPr>
          <a:xfrm>
            <a:off x="6108700" y="4737100"/>
            <a:ext cx="1562100" cy="279400"/>
          </a:xfrm>
          <a:prstGeom prst="rect">
            <a:avLst>
              <a:gd name="adj" fmla="val 31818"/>
            </a:avLst>
          </a:prstGeom>
          <a:solidFill>
            <a:srgbClr val="FFFFFF"/>
          </a:solidFill>
          <a:ln w="6350">
            <a:solidFill>
              <a:srgbClr val="D6CEC3"/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6210300" y="4781550"/>
            <a:ext cx="749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3F4A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通知紀錄</a:t>
            </a:r>
            <a:endParaRPr lang="en-US" sz="1070" dirty="0"/>
          </a:p>
        </p:txBody>
      </p:sp>
      <p:sp>
        <p:nvSpPr>
          <p:cNvPr id="120" name="Text 116"/>
          <p:cNvSpPr/>
          <p:nvPr/>
        </p:nvSpPr>
        <p:spPr>
          <a:xfrm>
            <a:off x="6210300" y="4895850"/>
            <a:ext cx="12700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Notification / Logs</a:t>
            </a:r>
            <a:endParaRPr lang="en-US" sz="790" dirty="0"/>
          </a:p>
        </p:txBody>
      </p:sp>
      <p:sp>
        <p:nvSpPr>
          <p:cNvPr id="121" name="Shape 117"/>
          <p:cNvSpPr/>
          <p:nvPr/>
        </p:nvSpPr>
        <p:spPr>
          <a:xfrm>
            <a:off x="8826500" y="4013200"/>
            <a:ext cx="1905000" cy="800100"/>
          </a:xfrm>
          <a:prstGeom prst="rect">
            <a:avLst>
              <a:gd name="adj" fmla="val 17460"/>
            </a:avLst>
          </a:prstGeom>
          <a:solidFill>
            <a:srgbClr val="FFF9EF"/>
          </a:solidFill>
          <a:ln w="8255">
            <a:solidFill>
              <a:srgbClr val="D6CEC3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122" name="Shape 118"/>
          <p:cNvSpPr/>
          <p:nvPr/>
        </p:nvSpPr>
        <p:spPr>
          <a:xfrm>
            <a:off x="8826500" y="4013200"/>
            <a:ext cx="44450" cy="800100"/>
          </a:xfrm>
          <a:prstGeom prst="rect">
            <a:avLst>
              <a:gd name="adj" fmla="val 57143"/>
            </a:avLst>
          </a:prstGeom>
          <a:solidFill>
            <a:srgbClr val="A65A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8966200" y="4121150"/>
            <a:ext cx="162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外部服務整合</a:t>
            </a:r>
            <a:endParaRPr lang="en-US" sz="1500" dirty="0"/>
          </a:p>
        </p:txBody>
      </p:sp>
      <p:sp>
        <p:nvSpPr>
          <p:cNvPr id="124" name="Text 120"/>
          <p:cNvSpPr/>
          <p:nvPr/>
        </p:nvSpPr>
        <p:spPr>
          <a:xfrm>
            <a:off x="8966200" y="4362450"/>
            <a:ext cx="16256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Email 驗證 / 登入通知</a:t>
            </a:r>
            <a:endParaRPr lang="en-US" sz="10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Line Pay 信用卡繳費流程</a:t>
            </a:r>
            <a:endParaRPr lang="en-US" sz="1060" dirty="0"/>
          </a:p>
        </p:txBody>
      </p:sp>
      <p:sp>
        <p:nvSpPr>
          <p:cNvPr id="125" name="Shape 121"/>
          <p:cNvSpPr/>
          <p:nvPr/>
        </p:nvSpPr>
        <p:spPr>
          <a:xfrm>
            <a:off x="8255000" y="4470400"/>
            <a:ext cx="571500" cy="0"/>
          </a:xfrm>
          <a:prstGeom prst="line">
            <a:avLst/>
          </a:prstGeom>
          <a:noFill/>
          <a:ln w="13970">
            <a:solidFill>
              <a:srgbClr val="A65A4D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26" name="Shape 122"/>
          <p:cNvSpPr/>
          <p:nvPr/>
        </p:nvSpPr>
        <p:spPr>
          <a:xfrm>
            <a:off x="2349500" y="5194300"/>
            <a:ext cx="2476500" cy="482600"/>
          </a:xfrm>
          <a:prstGeom prst="rect">
            <a:avLst>
              <a:gd name="adj" fmla="val 28947"/>
            </a:avLst>
          </a:prstGeom>
          <a:solidFill>
            <a:srgbClr val="FFF9EF"/>
          </a:solidFill>
          <a:ln w="8255">
            <a:solidFill>
              <a:srgbClr val="D6CEC3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127" name="Shape 123"/>
          <p:cNvSpPr/>
          <p:nvPr/>
        </p:nvSpPr>
        <p:spPr>
          <a:xfrm>
            <a:off x="2349500" y="5194300"/>
            <a:ext cx="44450" cy="482600"/>
          </a:xfrm>
          <a:prstGeom prst="rect">
            <a:avLst>
              <a:gd name="adj" fmla="val 57143"/>
            </a:avLst>
          </a:prstGeom>
          <a:solidFill>
            <a:srgbClr val="3F4A4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8" name="Text 124"/>
          <p:cNvSpPr/>
          <p:nvPr/>
        </p:nvSpPr>
        <p:spPr>
          <a:xfrm>
            <a:off x="2489200" y="5302250"/>
            <a:ext cx="219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JPA / Hibernate</a:t>
            </a:r>
            <a:endParaRPr lang="en-US" sz="1400" dirty="0"/>
          </a:p>
        </p:txBody>
      </p:sp>
      <p:sp>
        <p:nvSpPr>
          <p:cNvPr id="129" name="Text 125"/>
          <p:cNvSpPr/>
          <p:nvPr/>
        </p:nvSpPr>
        <p:spPr>
          <a:xfrm>
            <a:off x="2489200" y="5543550"/>
            <a:ext cx="2197100" cy="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Repository 封裝資料存取</a:t>
            </a:r>
            <a:endParaRPr lang="en-US" sz="10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Entity Mapping</a:t>
            </a:r>
            <a:endParaRPr lang="en-US" sz="1060" dirty="0"/>
          </a:p>
        </p:txBody>
      </p:sp>
      <p:sp>
        <p:nvSpPr>
          <p:cNvPr id="130" name="Shape 126"/>
          <p:cNvSpPr/>
          <p:nvPr/>
        </p:nvSpPr>
        <p:spPr>
          <a:xfrm>
            <a:off x="5715000" y="5194300"/>
            <a:ext cx="2667000" cy="482600"/>
          </a:xfrm>
          <a:prstGeom prst="rect">
            <a:avLst>
              <a:gd name="adj" fmla="val 28947"/>
            </a:avLst>
          </a:prstGeom>
          <a:solidFill>
            <a:srgbClr val="3F4A42"/>
          </a:solidFill>
          <a:ln w="8255">
            <a:solidFill>
              <a:srgbClr val="3F4A42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131" name="Shape 127"/>
          <p:cNvSpPr/>
          <p:nvPr/>
        </p:nvSpPr>
        <p:spPr>
          <a:xfrm>
            <a:off x="5715000" y="5194300"/>
            <a:ext cx="44450" cy="482600"/>
          </a:xfrm>
          <a:prstGeom prst="rect">
            <a:avLst>
              <a:gd name="adj" fmla="val 57143"/>
            </a:avLst>
          </a:prstGeom>
          <a:solidFill>
            <a:srgbClr val="A65A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5854700" y="5302250"/>
            <a:ext cx="238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1E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MSSQL Database</a:t>
            </a:r>
            <a:endParaRPr lang="en-US" sz="1500" dirty="0"/>
          </a:p>
        </p:txBody>
      </p:sp>
      <p:sp>
        <p:nvSpPr>
          <p:cNvPr id="133" name="Text 129"/>
          <p:cNvSpPr/>
          <p:nvPr/>
        </p:nvSpPr>
        <p:spPr>
          <a:xfrm>
            <a:off x="5854700" y="5543550"/>
            <a:ext cx="2387600" cy="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F5F1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Customer / Account / Loan / Risk / Card / Txn</a:t>
            </a:r>
            <a:endParaRPr lang="en-US" sz="880" dirty="0"/>
          </a:p>
        </p:txBody>
      </p:sp>
      <p:sp>
        <p:nvSpPr>
          <p:cNvPr id="134" name="Shape 130"/>
          <p:cNvSpPr/>
          <p:nvPr/>
        </p:nvSpPr>
        <p:spPr>
          <a:xfrm>
            <a:off x="9271000" y="5194300"/>
            <a:ext cx="1714500" cy="482600"/>
          </a:xfrm>
          <a:prstGeom prst="rect">
            <a:avLst>
              <a:gd name="adj" fmla="val 28947"/>
            </a:avLst>
          </a:prstGeom>
          <a:solidFill>
            <a:srgbClr val="FFF9EF"/>
          </a:solidFill>
          <a:ln w="8255">
            <a:solidFill>
              <a:srgbClr val="D6CEC3"/>
            </a:solidFill>
            <a:prstDash val="solid"/>
          </a:ln>
          <a:effectLst>
            <a:outerShdw sx="100000" sy="100000" kx="0" ky="0" algn="bl" rotWithShape="0" blurRad="15240" dist="50800" dir="2700000">
              <a:srgbClr val="6B5F50">
                <a:alpha val="11000"/>
              </a:srgbClr>
            </a:outerShdw>
          </a:effectLst>
        </p:spPr>
      </p:sp>
      <p:sp>
        <p:nvSpPr>
          <p:cNvPr id="135" name="Shape 131"/>
          <p:cNvSpPr/>
          <p:nvPr/>
        </p:nvSpPr>
        <p:spPr>
          <a:xfrm>
            <a:off x="9271000" y="5194300"/>
            <a:ext cx="44450" cy="482600"/>
          </a:xfrm>
          <a:prstGeom prst="rect">
            <a:avLst>
              <a:gd name="adj" fmla="val 57143"/>
            </a:avLst>
          </a:prstGeom>
          <a:solidFill>
            <a:srgbClr val="A65A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6" name="Text 132"/>
          <p:cNvSpPr/>
          <p:nvPr/>
        </p:nvSpPr>
        <p:spPr>
          <a:xfrm>
            <a:off x="9410700" y="530225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資料狀態回寫</a:t>
            </a:r>
            <a:endParaRPr lang="en-US" sz="1500" dirty="0"/>
          </a:p>
        </p:txBody>
      </p:sp>
      <p:sp>
        <p:nvSpPr>
          <p:cNvPr id="137" name="Text 133"/>
          <p:cNvSpPr/>
          <p:nvPr/>
        </p:nvSpPr>
        <p:spPr>
          <a:xfrm>
            <a:off x="9410700" y="5543550"/>
            <a:ext cx="1435100" cy="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5C56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審核、繳費、交易、通知狀態回到前台查詢</a:t>
            </a:r>
            <a:endParaRPr lang="en-US" sz="1060" dirty="0"/>
          </a:p>
        </p:txBody>
      </p:sp>
      <p:sp>
        <p:nvSpPr>
          <p:cNvPr id="138" name="Shape 134"/>
          <p:cNvSpPr/>
          <p:nvPr/>
        </p:nvSpPr>
        <p:spPr>
          <a:xfrm>
            <a:off x="6731000" y="3670300"/>
            <a:ext cx="0" cy="241300"/>
          </a:xfrm>
          <a:prstGeom prst="line">
            <a:avLst/>
          </a:prstGeom>
          <a:noFill/>
          <a:ln w="17780">
            <a:solidFill>
              <a:srgbClr val="5C6B5F"/>
            </a:solidFill>
            <a:prstDash val="solid"/>
            <a:tailEnd type="triangle"/>
          </a:ln>
        </p:spPr>
      </p:sp>
      <p:sp>
        <p:nvSpPr>
          <p:cNvPr id="139" name="Shape 135"/>
          <p:cNvSpPr/>
          <p:nvPr/>
        </p:nvSpPr>
        <p:spPr>
          <a:xfrm>
            <a:off x="5232400" y="5041900"/>
            <a:ext cx="-850900" cy="152400"/>
          </a:xfrm>
          <a:prstGeom prst="line">
            <a:avLst/>
          </a:prstGeom>
          <a:noFill/>
          <a:ln w="15240">
            <a:solidFill>
              <a:srgbClr val="5C6B5F"/>
            </a:solidFill>
            <a:prstDash val="solid"/>
            <a:tailEnd type="triangle"/>
          </a:ln>
        </p:spPr>
      </p:sp>
      <p:sp>
        <p:nvSpPr>
          <p:cNvPr id="140" name="Shape 136"/>
          <p:cNvSpPr/>
          <p:nvPr/>
        </p:nvSpPr>
        <p:spPr>
          <a:xfrm>
            <a:off x="4826000" y="5435600"/>
            <a:ext cx="889000" cy="0"/>
          </a:xfrm>
          <a:prstGeom prst="line">
            <a:avLst/>
          </a:prstGeom>
          <a:noFill/>
          <a:ln w="17780">
            <a:solidFill>
              <a:srgbClr val="5C6B5F"/>
            </a:solidFill>
            <a:prstDash val="solid"/>
            <a:tailEnd type="triangle"/>
          </a:ln>
        </p:spPr>
      </p:sp>
      <p:sp>
        <p:nvSpPr>
          <p:cNvPr id="141" name="Shape 137"/>
          <p:cNvSpPr/>
          <p:nvPr/>
        </p:nvSpPr>
        <p:spPr>
          <a:xfrm>
            <a:off x="8382000" y="5435600"/>
            <a:ext cx="889000" cy="0"/>
          </a:xfrm>
          <a:prstGeom prst="line">
            <a:avLst/>
          </a:prstGeom>
          <a:noFill/>
          <a:ln w="15240">
            <a:solidFill>
              <a:srgbClr val="A65A4D"/>
            </a:solidFill>
            <a:prstDash val="solid"/>
            <a:tailEnd type="triangle"/>
          </a:ln>
        </p:spPr>
      </p:sp>
      <p:sp>
        <p:nvSpPr>
          <p:cNvPr id="142" name="Shape 138"/>
          <p:cNvSpPr/>
          <p:nvPr/>
        </p:nvSpPr>
        <p:spPr>
          <a:xfrm>
            <a:off x="10121900" y="5194300"/>
            <a:ext cx="0" cy="-1422400"/>
          </a:xfrm>
          <a:prstGeom prst="line">
            <a:avLst/>
          </a:prstGeom>
          <a:noFill/>
          <a:ln w="12700">
            <a:solidFill>
              <a:srgbClr val="A65A4D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43" name="Shape 139"/>
          <p:cNvSpPr/>
          <p:nvPr/>
        </p:nvSpPr>
        <p:spPr>
          <a:xfrm>
            <a:off x="749300" y="6121400"/>
            <a:ext cx="1016000" cy="266700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 w="6985">
            <a:solidFill>
              <a:srgbClr val="D6CEC3"/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749300" y="616585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F4A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前台功能</a:t>
            </a:r>
            <a:endParaRPr lang="en-US" sz="1050" dirty="0"/>
          </a:p>
        </p:txBody>
      </p:sp>
      <p:sp>
        <p:nvSpPr>
          <p:cNvPr id="145" name="Shape 141"/>
          <p:cNvSpPr/>
          <p:nvPr/>
        </p:nvSpPr>
        <p:spPr>
          <a:xfrm>
            <a:off x="1917700" y="6121400"/>
            <a:ext cx="1016000" cy="266700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 w="6985">
            <a:solidFill>
              <a:srgbClr val="D6CEC3"/>
            </a:solidFill>
            <a:prstDash val="solid"/>
          </a:ln>
        </p:spPr>
      </p:sp>
      <p:sp>
        <p:nvSpPr>
          <p:cNvPr id="146" name="Text 142"/>
          <p:cNvSpPr/>
          <p:nvPr/>
        </p:nvSpPr>
        <p:spPr>
          <a:xfrm>
            <a:off x="1917700" y="616585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A65A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後台審核</a:t>
            </a:r>
            <a:endParaRPr lang="en-US" sz="1050" dirty="0"/>
          </a:p>
        </p:txBody>
      </p:sp>
      <p:sp>
        <p:nvSpPr>
          <p:cNvPr id="147" name="Shape 143"/>
          <p:cNvSpPr/>
          <p:nvPr/>
        </p:nvSpPr>
        <p:spPr>
          <a:xfrm>
            <a:off x="3086100" y="6121400"/>
            <a:ext cx="1143000" cy="266700"/>
          </a:xfrm>
          <a:prstGeom prst="rect">
            <a:avLst>
              <a:gd name="adj" fmla="val 50000"/>
            </a:avLst>
          </a:prstGeom>
          <a:solidFill>
            <a:srgbClr val="DFE6DC"/>
          </a:solidFill>
          <a:ln w="6985">
            <a:solidFill>
              <a:srgbClr val="DFE6DC"/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3086100" y="616585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F4A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JWT 保護 API</a:t>
            </a:r>
            <a:endParaRPr lang="en-US" sz="1050" dirty="0"/>
          </a:p>
        </p:txBody>
      </p:sp>
      <p:sp>
        <p:nvSpPr>
          <p:cNvPr id="149" name="Shape 145"/>
          <p:cNvSpPr/>
          <p:nvPr/>
        </p:nvSpPr>
        <p:spPr>
          <a:xfrm>
            <a:off x="4381500" y="6121400"/>
            <a:ext cx="1270000" cy="266700"/>
          </a:xfrm>
          <a:prstGeom prst="rect">
            <a:avLst>
              <a:gd name="adj" fmla="val 50000"/>
            </a:avLst>
          </a:prstGeom>
          <a:solidFill>
            <a:srgbClr val="EFE1DC"/>
          </a:solidFill>
          <a:ln w="6985">
            <a:solidFill>
              <a:srgbClr val="EFE1DC"/>
            </a:solidFill>
            <a:prstDash val="solid"/>
          </a:ln>
        </p:spPr>
      </p:sp>
      <p:sp>
        <p:nvSpPr>
          <p:cNvPr id="150" name="Text 146"/>
          <p:cNvSpPr/>
          <p:nvPr/>
        </p:nvSpPr>
        <p:spPr>
          <a:xfrm>
            <a:off x="4381500" y="616585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A65A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JPA 寫入 MSSQL</a:t>
            </a:r>
            <a:endParaRPr lang="en-US" sz="1050" dirty="0"/>
          </a:p>
        </p:txBody>
      </p:sp>
      <p:sp>
        <p:nvSpPr>
          <p:cNvPr id="151" name="Text 147"/>
          <p:cNvSpPr/>
          <p:nvPr/>
        </p:nvSpPr>
        <p:spPr>
          <a:xfrm>
            <a:off x="8216900" y="61468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8A19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Architecture Overview / EEIT215 第四組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資展國際 EEIT215 第四組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JavaEasyBank_SystemArchitecture_OnePage</dc:title>
  <dc:subject>Java Easy Bank 系統架構圖</dc:subject>
  <dc:creator>Java Easy Bank</dc:creator>
  <cp:lastModifiedBy>Java Easy Bank</cp:lastModifiedBy>
  <cp:revision>1</cp:revision>
  <dcterms:created xsi:type="dcterms:W3CDTF">2026-05-20T17:36:31Z</dcterms:created>
  <dcterms:modified xsi:type="dcterms:W3CDTF">2026-05-20T17:36:31Z</dcterms:modified>
</cp:coreProperties>
</file>